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embeddedFontLst>
    <p:embeddedFont>
      <p:font typeface="Crimson Pro Medium"/>
      <p:regular r:id="rId201314"/>
    </p:embeddedFont>
    <p:embeddedFont>
      <p:font typeface="Crimson Pro ExtraBold"/>
      <p:regular r:id="rId201315"/>
    </p:embeddedFont>
    <p:embeddedFont>
      <p:font typeface="Crimson Pro Black"/>
      <p:regular r:id="rId201316"/>
    </p:embeddedFont>
    <p:embeddedFont>
      <p:font typeface="Crimson Pro ExtraLight"/>
      <p:regular r:id="rId201317"/>
    </p:embeddedFont>
    <p:embeddedFont>
      <p:font typeface="Crimson Pro Light"/>
      <p:regular r:id="rId201318"/>
    </p:embeddedFont>
    <p:embeddedFont>
      <p:font typeface="Crimson Pro"/>
      <p:regular r:id="rId201319"/>
    </p:embeddedFont>
    <p:embeddedFont>
      <p:font typeface="Crimson Pro SemiBold"/>
      <p:regular r:id="rId201320"/>
    </p:embeddedFont>
    <p:embeddedFont>
      <p:font typeface="Crimson Pro Bold"/>
      <p:regular r:id="rId201321"/>
    </p:embeddedFont>
    <p:embeddedFont>
      <p:font typeface="Heebo Thin"/>
      <p:regular r:id="rId201322"/>
    </p:embeddedFont>
    <p:embeddedFont>
      <p:font typeface="Heebo ExtraLight"/>
      <p:regular r:id="rId201323"/>
    </p:embeddedFont>
    <p:embeddedFont>
      <p:font typeface="Heebo Light"/>
      <p:regular r:id="rId201324"/>
    </p:embeddedFont>
    <p:embeddedFont>
      <p:font typeface="Heebo"/>
      <p:regular r:id="rId201325"/>
    </p:embeddedFont>
    <p:embeddedFont>
      <p:font typeface="Heebo Medium"/>
      <p:regular r:id="rId201326"/>
    </p:embeddedFont>
    <p:embeddedFont>
      <p:font typeface="Heebo SemiBold"/>
      <p:regular r:id="rId201327"/>
    </p:embeddedFont>
    <p:embeddedFont>
      <p:font typeface="Heebo Bold"/>
      <p:regular r:id="rId201328"/>
    </p:embeddedFont>
    <p:embeddedFont>
      <p:font typeface="Heebo ExtraBold"/>
      <p:regular r:id="rId201329"/>
    </p:embeddedFont>
    <p:embeddedFont>
      <p:font typeface="Heebo Black"/>
      <p:regular r:id="rId2013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 Id="rId201334" Target="fonts/201334.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Walk through the workflow left to right: game.py → minimax.py → main.py → GUI
• game.py - Handles the core game rules and board logic. This is the foundation that everything else builds on.
• minimax.py - The AI algorithm that evaluates moves and determines the best strategy. This is where the intelligence comes in.
• main.py - Integrates everything together. Connects the game logic with the AI decision-making.
• GUI - The user-facing interface where players interact with the game. Built on top of all the backend modules.
• Key point: Each module was developed and tested independently before being brought together. This modular approach made development cleaner and testing easier.
• The result is a fully integrated system where all pieces work together seamlessly.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Week 6 — We're moving into optimization territory. We'll be creating heuristic evaluation functions that let the AI make faster decisions without exploring every possible move. This is crucial for making the game actually playable.
• Week 7 — Time to see what actually works. We'll run comprehensive benchmarks comparing our three search approaches — standard Minimax, Alpha-Beta pruning, and our new heuristic-guided search. This data will show us which strategy gives us the best balance of speed and decision quality.
• Week 8 — Making it real. We're building the actual interface so people can play against the AI. Whether we go with Pygame or Tkinter, the goal is something intuitive and responsive.
• Week 9 — The home stretch. We'll wrap up the final report, prepare our presentation, and create a demo video showcasing the AI in action.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0F1"/>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3.png"/><Relationship Id="rId6" Type="http://schemas.openxmlformats.org/officeDocument/2006/relationships/image" Target="../media/image-7-4.svg"/><Relationship Id="rId7" Type="http://schemas.openxmlformats.org/officeDocument/2006/relationships/image" Target="../media/image-7-3.png"/><Relationship Id="rId8" Type="http://schemas.openxmlformats.org/officeDocument/2006/relationships/image" Target="../media/image-7-4.sv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souravnewbee/cse440-tictactoe-ai-group01"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494383"/>
            <a:ext cx="4722763" cy="1328961"/>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152D47"/>
                </a:solidFill>
                <a:latin typeface="Crimson Pro SemiBold" pitchFamily="34" charset="0"/>
                <a:ea typeface="Crimson Pro SemiBold" pitchFamily="34" charset="-122"/>
                <a:cs typeface="Crimson Pro SemiBold" pitchFamily="34" charset="-120"/>
              </a:rPr>
              <a:t>Tic-Tac-Toe AI: Minimax, Alpha-Beta Pruning &amp; Heuristics</a:t>
            </a:r>
            <a:endParaRPr lang="en-US" sz="2750" dirty="0"/>
          </a:p>
        </p:txBody>
      </p:sp>
      <p:sp>
        <p:nvSpPr>
          <p:cNvPr id="4" name="Text 1"/>
          <p:cNvSpPr/>
          <p:nvPr/>
        </p:nvSpPr>
        <p:spPr>
          <a:xfrm>
            <a:off x="496119" y="3035945"/>
            <a:ext cx="4722763" cy="613097"/>
          </a:xfrm>
          <a:prstGeom prst="rect">
            <a:avLst/>
          </a:prstGeom>
          <a:noFill/>
          <a:ln/>
        </p:spPr>
        <p:txBody>
          <a:bodyPr wrap="square" lIns="0" tIns="0" rIns="0" bIns="0" rtlCol="0" anchor="t"/>
          <a:lstStyle/>
          <a:p>
            <a:pPr algn="l" indent="0" marL="0">
              <a:lnSpc>
                <a:spcPct val="133000"/>
              </a:lnSpc>
              <a:spcAft>
                <a:spcPts val="1250"/>
              </a:spcAft>
              <a:buNone/>
            </a:pPr>
            <a:r>
              <a:rPr lang="en-US" sz="1100" dirty="0">
                <a:solidFill>
                  <a:srgbClr val="4C4C4D"/>
                </a:solidFill>
                <a:latin typeface="Heebo" pitchFamily="34" charset="0"/>
                <a:ea typeface="Heebo" pitchFamily="34" charset="-122"/>
                <a:cs typeface="Heebo" pitchFamily="34" charset="-120"/>
              </a:rPr>
              <a:t>CSE 440 — Artificial Intelligence | Section 02 | Group 01</a:t>
            </a:r>
            <a:endParaRPr lang="en-US" sz="1100" dirty="0"/>
          </a:p>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North South University | Summer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038746"/>
            <a:ext cx="8151763" cy="354360"/>
          </a:xfrm>
          <a:prstGeom prst="rect">
            <a:avLst/>
          </a:prstGeom>
          <a:noFill/>
          <a:ln/>
        </p:spPr>
        <p:txBody>
          <a:bodyPr wrap="none" lIns="0" tIns="0" rIns="0" bIns="0" rtlCol="0" anchor="t"/>
          <a:lstStyle/>
          <a:p>
            <a:pPr algn="l" indent="0" marL="0">
              <a:lnSpc>
                <a:spcPct val="104000"/>
              </a:lnSpc>
              <a:buNone/>
            </a:pPr>
            <a:r>
              <a:rPr lang="en-US" sz="2200" dirty="0">
                <a:solidFill>
                  <a:srgbClr val="152D47"/>
                </a:solidFill>
                <a:latin typeface="Crimson Pro SemiBold" pitchFamily="34" charset="0"/>
                <a:ea typeface="Crimson Pro SemiBold" pitchFamily="34" charset="-122"/>
                <a:cs typeface="Crimson Pro SemiBold" pitchFamily="34" charset="-120"/>
              </a:rPr>
              <a:t>Group Members</a:t>
            </a:r>
            <a:endParaRPr lang="en-US" sz="2200" dirty="0"/>
          </a:p>
        </p:txBody>
      </p:sp>
      <p:sp>
        <p:nvSpPr>
          <p:cNvPr id="3" name="Shape 1"/>
          <p:cNvSpPr/>
          <p:nvPr/>
        </p:nvSpPr>
        <p:spPr>
          <a:xfrm>
            <a:off x="496119" y="1676623"/>
            <a:ext cx="8151763" cy="2041773"/>
          </a:xfrm>
          <a:prstGeom prst="roundRect">
            <a:avLst>
              <a:gd name="adj" fmla="val 1042"/>
            </a:avLst>
          </a:prstGeom>
          <a:noFill/>
          <a:ln w="4763">
            <a:solidFill>
              <a:srgbClr val="000000">
                <a:alpha val="8000"/>
              </a:srgbClr>
            </a:solidFill>
            <a:prstDash val="solid"/>
          </a:ln>
        </p:spPr>
      </p:sp>
      <p:sp>
        <p:nvSpPr>
          <p:cNvPr id="4" name="Shape 2"/>
          <p:cNvSpPr/>
          <p:nvPr/>
        </p:nvSpPr>
        <p:spPr>
          <a:xfrm>
            <a:off x="500881" y="1681386"/>
            <a:ext cx="8142238" cy="406450"/>
          </a:xfrm>
          <a:prstGeom prst="rect">
            <a:avLst/>
          </a:prstGeom>
          <a:solidFill>
            <a:srgbClr val="FFFFFF">
              <a:alpha val="4000"/>
            </a:srgbClr>
          </a:solidFill>
          <a:ln/>
        </p:spPr>
      </p:sp>
      <p:sp>
        <p:nvSpPr>
          <p:cNvPr id="5" name="Shape 3"/>
          <p:cNvSpPr/>
          <p:nvPr/>
        </p:nvSpPr>
        <p:spPr>
          <a:xfrm>
            <a:off x="500955" y="1681386"/>
            <a:ext cx="3256880" cy="406450"/>
          </a:xfrm>
          <a:prstGeom prst="rect">
            <a:avLst/>
          </a:prstGeom>
          <a:solidFill>
            <a:srgbClr val="2150FE"/>
          </a:solidFill>
          <a:ln/>
        </p:spPr>
      </p:sp>
      <p:sp>
        <p:nvSpPr>
          <p:cNvPr id="6" name="Text 4"/>
          <p:cNvSpPr/>
          <p:nvPr/>
        </p:nvSpPr>
        <p:spPr>
          <a:xfrm>
            <a:off x="642714" y="1771204"/>
            <a:ext cx="3428181" cy="226814"/>
          </a:xfrm>
          <a:prstGeom prst="rect">
            <a:avLst/>
          </a:prstGeom>
          <a:noFill/>
          <a:ln/>
        </p:spPr>
        <p:txBody>
          <a:bodyPr wrap="none" lIns="0" tIns="0" rIns="0" bIns="0" rtlCol="0" anchor="t"/>
          <a:lstStyle/>
          <a:p>
            <a:pPr algn="l" indent="0" marL="0">
              <a:lnSpc>
                <a:spcPct val="133000"/>
              </a:lnSpc>
              <a:buNone/>
            </a:pPr>
            <a:r>
              <a:rPr lang="en-US" sz="1100" b="1" dirty="0">
                <a:solidFill>
                  <a:srgbClr val="FFFFFF"/>
                </a:solidFill>
                <a:latin typeface="Heebo Bold" pitchFamily="34" charset="0"/>
                <a:ea typeface="Heebo Bold" pitchFamily="34" charset="-122"/>
                <a:cs typeface="Heebo Bold" pitchFamily="34" charset="-120"/>
              </a:rPr>
              <a:t>Name</a:t>
            </a:r>
            <a:endParaRPr lang="en-US" sz="1100" dirty="0"/>
          </a:p>
        </p:txBody>
      </p:sp>
      <p:sp>
        <p:nvSpPr>
          <p:cNvPr id="7" name="Shape 5"/>
          <p:cNvSpPr/>
          <p:nvPr/>
        </p:nvSpPr>
        <p:spPr>
          <a:xfrm>
            <a:off x="3757836" y="1681386"/>
            <a:ext cx="4885283" cy="406450"/>
          </a:xfrm>
          <a:prstGeom prst="rect">
            <a:avLst/>
          </a:prstGeom>
          <a:solidFill>
            <a:srgbClr val="04318F"/>
          </a:solidFill>
          <a:ln/>
        </p:spPr>
      </p:sp>
      <p:sp>
        <p:nvSpPr>
          <p:cNvPr id="8" name="Text 6"/>
          <p:cNvSpPr/>
          <p:nvPr/>
        </p:nvSpPr>
        <p:spPr>
          <a:xfrm>
            <a:off x="3901976" y="1771204"/>
            <a:ext cx="5056584" cy="226814"/>
          </a:xfrm>
          <a:prstGeom prst="rect">
            <a:avLst/>
          </a:prstGeom>
          <a:noFill/>
          <a:ln/>
        </p:spPr>
        <p:txBody>
          <a:bodyPr wrap="none" lIns="0" tIns="0" rIns="0" bIns="0" rtlCol="0" anchor="t"/>
          <a:lstStyle/>
          <a:p>
            <a:pPr algn="l" indent="0" marL="0">
              <a:lnSpc>
                <a:spcPct val="133000"/>
              </a:lnSpc>
              <a:buNone/>
            </a:pPr>
            <a:r>
              <a:rPr lang="en-US" sz="1100" b="1" dirty="0">
                <a:solidFill>
                  <a:srgbClr val="FFFFFF"/>
                </a:solidFill>
                <a:latin typeface="Heebo Bold" pitchFamily="34" charset="0"/>
                <a:ea typeface="Heebo Bold" pitchFamily="34" charset="-122"/>
                <a:cs typeface="Heebo Bold" pitchFamily="34" charset="-120"/>
              </a:rPr>
              <a:t>Student ID</a:t>
            </a:r>
            <a:endParaRPr lang="en-US" sz="1100" dirty="0"/>
          </a:p>
        </p:txBody>
      </p:sp>
      <p:sp>
        <p:nvSpPr>
          <p:cNvPr id="9" name="Shape 7"/>
          <p:cNvSpPr/>
          <p:nvPr/>
        </p:nvSpPr>
        <p:spPr>
          <a:xfrm>
            <a:off x="500881" y="2087835"/>
            <a:ext cx="8142238" cy="406450"/>
          </a:xfrm>
          <a:prstGeom prst="rect">
            <a:avLst/>
          </a:prstGeom>
          <a:solidFill>
            <a:srgbClr val="000000">
              <a:alpha val="4000"/>
            </a:srgbClr>
          </a:solidFill>
          <a:ln/>
        </p:spPr>
      </p:sp>
      <p:sp>
        <p:nvSpPr>
          <p:cNvPr id="10" name="Text 8"/>
          <p:cNvSpPr/>
          <p:nvPr/>
        </p:nvSpPr>
        <p:spPr>
          <a:xfrm>
            <a:off x="642714" y="2177653"/>
            <a:ext cx="3428181" cy="226814"/>
          </a:xfrm>
          <a:prstGeom prst="rect">
            <a:avLst/>
          </a:prstGeom>
          <a:noFill/>
          <a:ln/>
        </p:spPr>
        <p:txBody>
          <a:bodyPr wrap="none" lIns="0" tIns="0" rIns="0" bIns="0" rtlCol="0" anchor="t"/>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Sourav Roy</a:t>
            </a:r>
            <a:endParaRPr lang="en-US" sz="1100" dirty="0"/>
          </a:p>
        </p:txBody>
      </p:sp>
      <p:sp>
        <p:nvSpPr>
          <p:cNvPr id="11" name="Text 9"/>
          <p:cNvSpPr/>
          <p:nvPr/>
        </p:nvSpPr>
        <p:spPr>
          <a:xfrm>
            <a:off x="3901976" y="2177653"/>
            <a:ext cx="5056584" cy="226814"/>
          </a:xfrm>
          <a:prstGeom prst="rect">
            <a:avLst/>
          </a:prstGeom>
          <a:noFill/>
          <a:ln/>
        </p:spPr>
        <p:txBody>
          <a:bodyPr wrap="none" lIns="0" tIns="0" rIns="0" bIns="0" rtlCol="0" anchor="t"/>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2121856042</a:t>
            </a:r>
            <a:endParaRPr lang="en-US" sz="1100" dirty="0"/>
          </a:p>
        </p:txBody>
      </p:sp>
      <p:sp>
        <p:nvSpPr>
          <p:cNvPr id="12" name="Shape 10"/>
          <p:cNvSpPr/>
          <p:nvPr/>
        </p:nvSpPr>
        <p:spPr>
          <a:xfrm>
            <a:off x="500881" y="2494285"/>
            <a:ext cx="8142238" cy="406450"/>
          </a:xfrm>
          <a:prstGeom prst="rect">
            <a:avLst/>
          </a:prstGeom>
          <a:solidFill>
            <a:srgbClr val="FFFFFF">
              <a:alpha val="4000"/>
            </a:srgbClr>
          </a:solidFill>
          <a:ln/>
        </p:spPr>
      </p:sp>
      <p:sp>
        <p:nvSpPr>
          <p:cNvPr id="13" name="Text 11"/>
          <p:cNvSpPr/>
          <p:nvPr/>
        </p:nvSpPr>
        <p:spPr>
          <a:xfrm>
            <a:off x="642714" y="2584103"/>
            <a:ext cx="3428181" cy="226814"/>
          </a:xfrm>
          <a:prstGeom prst="rect">
            <a:avLst/>
          </a:prstGeom>
          <a:noFill/>
          <a:ln/>
        </p:spPr>
        <p:txBody>
          <a:bodyPr wrap="none" lIns="0" tIns="0" rIns="0" bIns="0" rtlCol="0" anchor="t"/>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Sudipta Karmakar</a:t>
            </a:r>
            <a:endParaRPr lang="en-US" sz="1100" dirty="0"/>
          </a:p>
        </p:txBody>
      </p:sp>
      <p:sp>
        <p:nvSpPr>
          <p:cNvPr id="14" name="Text 12"/>
          <p:cNvSpPr/>
          <p:nvPr/>
        </p:nvSpPr>
        <p:spPr>
          <a:xfrm>
            <a:off x="3901976" y="2584103"/>
            <a:ext cx="5056584" cy="226814"/>
          </a:xfrm>
          <a:prstGeom prst="rect">
            <a:avLst/>
          </a:prstGeom>
          <a:noFill/>
          <a:ln/>
        </p:spPr>
        <p:txBody>
          <a:bodyPr wrap="none" lIns="0" tIns="0" rIns="0" bIns="0" rtlCol="0" anchor="t"/>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2132245042</a:t>
            </a:r>
            <a:endParaRPr lang="en-US" sz="1100" dirty="0"/>
          </a:p>
        </p:txBody>
      </p:sp>
      <p:sp>
        <p:nvSpPr>
          <p:cNvPr id="15" name="Shape 13"/>
          <p:cNvSpPr/>
          <p:nvPr/>
        </p:nvSpPr>
        <p:spPr>
          <a:xfrm>
            <a:off x="500881" y="2900735"/>
            <a:ext cx="8142238" cy="406450"/>
          </a:xfrm>
          <a:prstGeom prst="rect">
            <a:avLst/>
          </a:prstGeom>
          <a:solidFill>
            <a:srgbClr val="000000">
              <a:alpha val="4000"/>
            </a:srgbClr>
          </a:solidFill>
          <a:ln/>
        </p:spPr>
      </p:sp>
      <p:sp>
        <p:nvSpPr>
          <p:cNvPr id="16" name="Text 14"/>
          <p:cNvSpPr/>
          <p:nvPr/>
        </p:nvSpPr>
        <p:spPr>
          <a:xfrm>
            <a:off x="642714" y="2990552"/>
            <a:ext cx="3428181" cy="226814"/>
          </a:xfrm>
          <a:prstGeom prst="rect">
            <a:avLst/>
          </a:prstGeom>
          <a:noFill/>
          <a:ln/>
        </p:spPr>
        <p:txBody>
          <a:bodyPr wrap="none" lIns="0" tIns="0" rIns="0" bIns="0" rtlCol="0" anchor="t"/>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Khatune Jannat</a:t>
            </a:r>
            <a:endParaRPr lang="en-US" sz="1100" dirty="0"/>
          </a:p>
        </p:txBody>
      </p:sp>
      <p:sp>
        <p:nvSpPr>
          <p:cNvPr id="17" name="Text 15"/>
          <p:cNvSpPr/>
          <p:nvPr/>
        </p:nvSpPr>
        <p:spPr>
          <a:xfrm>
            <a:off x="3901976" y="2990552"/>
            <a:ext cx="5056584" cy="226814"/>
          </a:xfrm>
          <a:prstGeom prst="rect">
            <a:avLst/>
          </a:prstGeom>
          <a:noFill/>
          <a:ln/>
        </p:spPr>
        <p:txBody>
          <a:bodyPr wrap="none" lIns="0" tIns="0" rIns="0" bIns="0" rtlCol="0" anchor="t"/>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2131916642</a:t>
            </a:r>
            <a:endParaRPr lang="en-US" sz="1100" dirty="0"/>
          </a:p>
        </p:txBody>
      </p:sp>
      <p:sp>
        <p:nvSpPr>
          <p:cNvPr id="18" name="Shape 16"/>
          <p:cNvSpPr/>
          <p:nvPr/>
        </p:nvSpPr>
        <p:spPr>
          <a:xfrm>
            <a:off x="500881" y="3307184"/>
            <a:ext cx="8142238" cy="406450"/>
          </a:xfrm>
          <a:prstGeom prst="rect">
            <a:avLst/>
          </a:prstGeom>
          <a:solidFill>
            <a:srgbClr val="FFFFFF">
              <a:alpha val="4000"/>
            </a:srgbClr>
          </a:solidFill>
          <a:ln/>
        </p:spPr>
      </p:sp>
      <p:sp>
        <p:nvSpPr>
          <p:cNvPr id="19" name="Text 17"/>
          <p:cNvSpPr/>
          <p:nvPr/>
        </p:nvSpPr>
        <p:spPr>
          <a:xfrm>
            <a:off x="642714" y="3397002"/>
            <a:ext cx="3428181" cy="226814"/>
          </a:xfrm>
          <a:prstGeom prst="rect">
            <a:avLst/>
          </a:prstGeom>
          <a:noFill/>
          <a:ln/>
        </p:spPr>
        <p:txBody>
          <a:bodyPr wrap="none" lIns="0" tIns="0" rIns="0" bIns="0" rtlCol="0" anchor="t"/>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Tabassum Tasnim Mridula</a:t>
            </a:r>
            <a:endParaRPr lang="en-US" sz="1100" dirty="0"/>
          </a:p>
        </p:txBody>
      </p:sp>
      <p:sp>
        <p:nvSpPr>
          <p:cNvPr id="20" name="Text 18"/>
          <p:cNvSpPr/>
          <p:nvPr/>
        </p:nvSpPr>
        <p:spPr>
          <a:xfrm>
            <a:off x="3901976" y="3397002"/>
            <a:ext cx="5056584" cy="226814"/>
          </a:xfrm>
          <a:prstGeom prst="rect">
            <a:avLst/>
          </a:prstGeom>
          <a:noFill/>
          <a:ln/>
        </p:spPr>
        <p:txBody>
          <a:bodyPr wrap="none" lIns="0" tIns="0" rIns="0" bIns="0" rtlCol="0" anchor="t"/>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2211451042</a:t>
            </a:r>
            <a:endParaRPr lang="en-US" sz="1100" dirty="0"/>
          </a:p>
        </p:txBody>
      </p:sp>
      <p:sp>
        <p:nvSpPr>
          <p:cNvPr id="21" name="Text 19"/>
          <p:cNvSpPr/>
          <p:nvPr/>
        </p:nvSpPr>
        <p:spPr>
          <a:xfrm>
            <a:off x="267519" y="3877866"/>
            <a:ext cx="8608963" cy="226814"/>
          </a:xfrm>
          <a:prstGeom prst="rect">
            <a:avLst/>
          </a:prstGeom>
          <a:noFill/>
          <a:ln/>
        </p:spPr>
        <p:txBody>
          <a:bodyPr wrap="none" lIns="0" tIns="0" rIns="0" bIns="0" rtlCol="0" anchor="t"/>
          <a:lstStyle/>
          <a:p>
            <a:pPr algn="ctr" indent="0" marL="0">
              <a:lnSpc>
                <a:spcPct val="133000"/>
              </a:lnSpc>
              <a:buNone/>
            </a:pPr>
            <a:r>
              <a:rPr lang="en-US" sz="1100" dirty="0">
                <a:solidFill>
                  <a:srgbClr val="4C4C4D"/>
                </a:solidFill>
                <a:latin typeface="Heebo" pitchFamily="34" charset="0"/>
                <a:ea typeface="Heebo" pitchFamily="34" charset="-122"/>
                <a:cs typeface="Heebo" pitchFamily="34" charset="-120"/>
              </a:rPr>
              <a:t>Contact: github.com/souravnewbee/cse440-tictactoe-ai-group01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281857"/>
            <a:ext cx="4722763" cy="354360"/>
          </a:xfrm>
          <a:prstGeom prst="rect">
            <a:avLst/>
          </a:prstGeom>
          <a:noFill/>
          <a:ln/>
        </p:spPr>
        <p:txBody>
          <a:bodyPr wrap="none" lIns="0" tIns="0" rIns="0" bIns="0" rtlCol="0" anchor="t"/>
          <a:lstStyle/>
          <a:p>
            <a:pPr algn="l" indent="0" marL="0">
              <a:lnSpc>
                <a:spcPct val="104000"/>
              </a:lnSpc>
              <a:buNone/>
            </a:pPr>
            <a:r>
              <a:rPr lang="en-US" sz="2200" dirty="0">
                <a:solidFill>
                  <a:srgbClr val="152D47"/>
                </a:solidFill>
                <a:latin typeface="Crimson Pro SemiBold" pitchFamily="34" charset="0"/>
                <a:ea typeface="Crimson Pro SemiBold" pitchFamily="34" charset="-122"/>
                <a:cs typeface="Crimson Pro SemiBold" pitchFamily="34" charset="-120"/>
              </a:rPr>
              <a:t>Project Overview &amp; Objectives</a:t>
            </a:r>
            <a:endParaRPr lang="en-US" sz="2200" dirty="0"/>
          </a:p>
        </p:txBody>
      </p:sp>
      <p:sp>
        <p:nvSpPr>
          <p:cNvPr id="4" name="Text 1"/>
          <p:cNvSpPr/>
          <p:nvPr/>
        </p:nvSpPr>
        <p:spPr>
          <a:xfrm>
            <a:off x="3925119" y="1848817"/>
            <a:ext cx="4722763" cy="2012752"/>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4C4C4D"/>
                </a:solidFill>
                <a:latin typeface="Heebo" pitchFamily="34" charset="0"/>
                <a:ea typeface="Heebo" pitchFamily="34" charset="-122"/>
                <a:cs typeface="Heebo" pitchFamily="34" charset="-120"/>
              </a:rPr>
              <a:t>Build an AI agent that plays Tic-Tac-Toe optimally against a human player.</a:t>
            </a:r>
            <a:endParaRPr lang="en-US" sz="1100" dirty="0"/>
          </a:p>
          <a:p>
            <a:pPr algn="l" marL="223520" indent="-223520">
              <a:lnSpc>
                <a:spcPct val="133000"/>
              </a:lnSpc>
              <a:buSzPct val="100000"/>
              <a:buChar char="•"/>
            </a:pPr>
            <a:r>
              <a:rPr lang="en-US" sz="1100" dirty="0">
                <a:solidFill>
                  <a:srgbClr val="4C4C4D"/>
                </a:solidFill>
                <a:latin typeface="Heebo" pitchFamily="34" charset="0"/>
                <a:ea typeface="Heebo" pitchFamily="34" charset="-122"/>
                <a:cs typeface="Heebo" pitchFamily="34" charset="-120"/>
              </a:rPr>
              <a:t>Implement Minimax for exhaustive game-tree search and correctness.</a:t>
            </a:r>
            <a:endParaRPr lang="en-US" sz="1100" dirty="0"/>
          </a:p>
          <a:p>
            <a:pPr algn="l" marL="223520" indent="-223520">
              <a:lnSpc>
                <a:spcPct val="133000"/>
              </a:lnSpc>
              <a:buSzPct val="100000"/>
              <a:buChar char="•"/>
            </a:pPr>
            <a:r>
              <a:rPr lang="en-US" sz="1100" dirty="0">
                <a:solidFill>
                  <a:srgbClr val="4C4C4D"/>
                </a:solidFill>
                <a:latin typeface="Heebo" pitchFamily="34" charset="0"/>
                <a:ea typeface="Heebo" pitchFamily="34" charset="-122"/>
                <a:cs typeface="Heebo" pitchFamily="34" charset="-120"/>
              </a:rPr>
              <a:t>Optimize decision-making with Alpha-Beta pruning to reduce explored nodes.</a:t>
            </a:r>
            <a:endParaRPr lang="en-US" sz="1100" dirty="0"/>
          </a:p>
          <a:p>
            <a:pPr algn="l" marL="223520" indent="-223520">
              <a:lnSpc>
                <a:spcPct val="133000"/>
              </a:lnSpc>
              <a:buSzPct val="100000"/>
              <a:buChar char="•"/>
            </a:pPr>
            <a:r>
              <a:rPr lang="en-US" sz="1100" dirty="0">
                <a:solidFill>
                  <a:srgbClr val="4C4C4D"/>
                </a:solidFill>
                <a:latin typeface="Heebo" pitchFamily="34" charset="0"/>
                <a:ea typeface="Heebo" pitchFamily="34" charset="-122"/>
                <a:cs typeface="Heebo" pitchFamily="34" charset="-120"/>
              </a:rPr>
              <a:t>Design heuristic evaluation functions for faster play and imperfect-information testing.</a:t>
            </a:r>
            <a:endParaRPr lang="en-US" sz="1100" dirty="0"/>
          </a:p>
          <a:p>
            <a:pPr algn="l" marL="223520" indent="-223520">
              <a:lnSpc>
                <a:spcPct val="133000"/>
              </a:lnSpc>
              <a:buSzPct val="100000"/>
              <a:buChar char="•"/>
            </a:pPr>
            <a:r>
              <a:rPr lang="en-US" sz="1100" dirty="0">
                <a:solidFill>
                  <a:srgbClr val="4C4C4D"/>
                </a:solidFill>
                <a:latin typeface="Heebo" pitchFamily="34" charset="0"/>
                <a:ea typeface="Heebo" pitchFamily="34" charset="-122"/>
                <a:cs typeface="Heebo" pitchFamily="34" charset="-120"/>
              </a:rPr>
              <a:t>Deliver a playable Human vs AI interface suitable for live demo.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96032"/>
            <a:ext cx="8151763" cy="332259"/>
          </a:xfrm>
          <a:prstGeom prst="rect">
            <a:avLst/>
          </a:prstGeom>
          <a:noFill/>
          <a:ln/>
        </p:spPr>
        <p:txBody>
          <a:bodyPr wrap="none" lIns="0" tIns="0" rIns="0" bIns="0" rtlCol="0" anchor="t"/>
          <a:lstStyle/>
          <a:p>
            <a:pPr algn="l" indent="0" marL="0">
              <a:lnSpc>
                <a:spcPct val="104000"/>
              </a:lnSpc>
              <a:buNone/>
            </a:pPr>
            <a:r>
              <a:rPr lang="en-US" sz="2050" dirty="0">
                <a:solidFill>
                  <a:srgbClr val="152D47"/>
                </a:solidFill>
                <a:latin typeface="Crimson Pro SemiBold" pitchFamily="34" charset="0"/>
                <a:ea typeface="Crimson Pro SemiBold" pitchFamily="34" charset="-122"/>
                <a:cs typeface="Crimson Pro SemiBold" pitchFamily="34" charset="-120"/>
              </a:rPr>
              <a:t>Project Workflow</a:t>
            </a:r>
            <a:endParaRPr lang="en-US" sz="2050" dirty="0"/>
          </a:p>
        </p:txBody>
      </p:sp>
      <p:pic>
        <p:nvPicPr>
          <p:cNvPr id="3" name="Image 0" descr="preencoded.png">    </p:cNvPr>
          <p:cNvPicPr>
            <a:picLocks noChangeAspect="1"/>
          </p:cNvPicPr>
          <p:nvPr/>
        </p:nvPicPr>
        <p:blipFill>
          <a:blip r:embed="rId1"/>
          <a:stretch>
            <a:fillRect/>
          </a:stretch>
        </p:blipFill>
        <p:spPr>
          <a:xfrm>
            <a:off x="529679" y="915144"/>
            <a:ext cx="8084567" cy="3486224"/>
          </a:xfrm>
          <a:prstGeom prst="rect">
            <a:avLst/>
          </a:prstGeom>
        </p:spPr>
      </p:pic>
      <p:sp>
        <p:nvSpPr>
          <p:cNvPr id="4" name="Text 1"/>
          <p:cNvSpPr/>
          <p:nvPr/>
        </p:nvSpPr>
        <p:spPr>
          <a:xfrm>
            <a:off x="1073714" y="3740250"/>
            <a:ext cx="1834102" cy="229263"/>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Crimson Pro SemiBold" pitchFamily="34" charset="0"/>
                <a:ea typeface="Crimson Pro SemiBold" pitchFamily="34" charset="-122"/>
                <a:cs typeface="Crimson Pro SemiBold" pitchFamily="34" charset="-120"/>
              </a:rPr>
              <a:t>GUI(coming in Week 8)</a:t>
            </a:r>
            <a:endParaRPr lang="en-US" sz="1400" dirty="0"/>
          </a:p>
        </p:txBody>
      </p:sp>
      <p:sp>
        <p:nvSpPr>
          <p:cNvPr id="5" name="Text 2"/>
          <p:cNvSpPr/>
          <p:nvPr/>
        </p:nvSpPr>
        <p:spPr>
          <a:xfrm>
            <a:off x="1073714" y="2933245"/>
            <a:ext cx="2645182" cy="229263"/>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Crimson Pro SemiBold" pitchFamily="34" charset="0"/>
                <a:ea typeface="Crimson Pro SemiBold" pitchFamily="34" charset="-122"/>
                <a:cs typeface="Crimson Pro SemiBold" pitchFamily="34" charset="-120"/>
              </a:rPr>
              <a:t>main.py(integration, human vs AI)</a:t>
            </a:r>
            <a:endParaRPr lang="en-US" sz="1400" dirty="0"/>
          </a:p>
        </p:txBody>
      </p:sp>
      <p:sp>
        <p:nvSpPr>
          <p:cNvPr id="6" name="Text 3"/>
          <p:cNvSpPr/>
          <p:nvPr/>
        </p:nvSpPr>
        <p:spPr>
          <a:xfrm>
            <a:off x="1073714" y="2134392"/>
            <a:ext cx="3266484" cy="229263"/>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Crimson Pro SemiBold" pitchFamily="34" charset="0"/>
                <a:ea typeface="Crimson Pro SemiBold" pitchFamily="34" charset="-122"/>
                <a:cs typeface="Crimson Pro SemiBold" pitchFamily="34" charset="-120"/>
              </a:rPr>
              <a:t>minimax.py/ alpha_beta (AI decision logic)</a:t>
            </a:r>
            <a:endParaRPr lang="en-US" sz="1400" dirty="0"/>
          </a:p>
        </p:txBody>
      </p:sp>
      <p:sp>
        <p:nvSpPr>
          <p:cNvPr id="7" name="Text 4"/>
          <p:cNvSpPr/>
          <p:nvPr/>
        </p:nvSpPr>
        <p:spPr>
          <a:xfrm>
            <a:off x="1073714" y="1327388"/>
            <a:ext cx="1845055" cy="229263"/>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Crimson Pro SemiBold" pitchFamily="34" charset="0"/>
                <a:ea typeface="Crimson Pro SemiBold" pitchFamily="34" charset="-122"/>
                <a:cs typeface="Crimson Pro SemiBold" pitchFamily="34" charset="-120"/>
              </a:rPr>
              <a:t>game.py (board &amp; rules)</a:t>
            </a:r>
            <a:endParaRPr lang="en-US" sz="1400" dirty="0"/>
          </a:p>
        </p:txBody>
      </p:sp>
      <p:sp>
        <p:nvSpPr>
          <p:cNvPr id="8" name="Text 5"/>
          <p:cNvSpPr/>
          <p:nvPr/>
        </p:nvSpPr>
        <p:spPr>
          <a:xfrm>
            <a:off x="1073714" y="1335539"/>
            <a:ext cx="749052" cy="203789"/>
          </a:xfrm>
          <a:prstGeom prst="rect">
            <a:avLst/>
          </a:prstGeom>
          <a:noFill/>
          <a:ln/>
        </p:spPr>
        <p:txBody>
          <a:bodyPr wrap="none" lIns="0" tIns="0" rIns="0" bIns="0" rtlCol="0" anchor="t"/>
          <a:lstStyle/>
          <a:p>
            <a:pPr algn="l" indent="0" marL="0">
              <a:lnSpc>
                <a:spcPct val="104000"/>
              </a:lnSpc>
              <a:buNone/>
            </a:pPr>
            <a:r>
              <a:rPr lang="en-US" sz="1400" dirty="0">
                <a:solidFill>
                  <a:srgbClr val="F2F2F2"/>
                </a:solidFill>
                <a:latin typeface="Crimson Pro SemiBold" pitchFamily="34" charset="0"/>
                <a:ea typeface="Crimson Pro SemiBold" pitchFamily="34" charset="-122"/>
                <a:cs typeface="Crimson Pro SemiBold" pitchFamily="34" charset="-120"/>
              </a:rPr>
              <a:t>game.py (</a:t>
            </a:r>
            <a:endParaRPr lang="en-US" sz="1400" dirty="0"/>
          </a:p>
        </p:txBody>
      </p:sp>
      <p:sp>
        <p:nvSpPr>
          <p:cNvPr id="9" name="Text 6"/>
          <p:cNvSpPr/>
          <p:nvPr/>
        </p:nvSpPr>
        <p:spPr>
          <a:xfrm>
            <a:off x="496119" y="4541490"/>
            <a:ext cx="8608963" cy="205978"/>
          </a:xfrm>
          <a:prstGeom prst="rect">
            <a:avLst/>
          </a:prstGeom>
          <a:noFill/>
          <a:ln/>
        </p:spPr>
        <p:txBody>
          <a:bodyPr wrap="none" lIns="0" tIns="0" rIns="0" bIns="0" rtlCol="0" anchor="t"/>
          <a:lstStyle/>
          <a:p>
            <a:pPr algn="l" indent="0" marL="0">
              <a:lnSpc>
                <a:spcPct val="129000"/>
              </a:lnSpc>
              <a:buNone/>
            </a:pPr>
            <a:r>
              <a:rPr lang="en-US" sz="1000" dirty="0">
                <a:solidFill>
                  <a:srgbClr val="4C4C4D"/>
                </a:solidFill>
                <a:latin typeface="Heebo" pitchFamily="34" charset="0"/>
                <a:ea typeface="Heebo" pitchFamily="34" charset="-122"/>
                <a:cs typeface="Heebo" pitchFamily="34" charset="-120"/>
              </a:rPr>
              <a:t>Each module was developed and tested independently, then integrated for full-stack functionality.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949598"/>
            <a:ext cx="4722763" cy="354360"/>
          </a:xfrm>
          <a:prstGeom prst="rect">
            <a:avLst/>
          </a:prstGeom>
          <a:noFill/>
          <a:ln/>
        </p:spPr>
        <p:txBody>
          <a:bodyPr wrap="none" lIns="0" tIns="0" rIns="0" bIns="0" rtlCol="0" anchor="t"/>
          <a:lstStyle/>
          <a:p>
            <a:pPr algn="l" indent="0" marL="0">
              <a:lnSpc>
                <a:spcPct val="104000"/>
              </a:lnSpc>
              <a:buNone/>
            </a:pPr>
            <a:r>
              <a:rPr lang="en-US" sz="2200" dirty="0">
                <a:solidFill>
                  <a:srgbClr val="152D47"/>
                </a:solidFill>
                <a:latin typeface="Crimson Pro SemiBold" pitchFamily="34" charset="0"/>
                <a:ea typeface="Crimson Pro SemiBold" pitchFamily="34" charset="-122"/>
                <a:cs typeface="Crimson Pro SemiBold" pitchFamily="34" charset="-120"/>
              </a:rPr>
              <a:t>Progress: Weeks 1–3</a:t>
            </a:r>
            <a:endParaRPr lang="en-US" sz="2200" dirty="0"/>
          </a:p>
        </p:txBody>
      </p:sp>
      <p:sp>
        <p:nvSpPr>
          <p:cNvPr id="4" name="Shape 1"/>
          <p:cNvSpPr/>
          <p:nvPr/>
        </p:nvSpPr>
        <p:spPr>
          <a:xfrm>
            <a:off x="3925119" y="1516559"/>
            <a:ext cx="2290465" cy="1491928"/>
          </a:xfrm>
          <a:prstGeom prst="roundRect">
            <a:avLst>
              <a:gd name="adj" fmla="val 1425"/>
            </a:avLst>
          </a:prstGeom>
          <a:solidFill>
            <a:srgbClr val="F2EEEE"/>
          </a:solidFill>
          <a:ln/>
        </p:spPr>
      </p:sp>
      <p:sp>
        <p:nvSpPr>
          <p:cNvPr id="5" name="Text 2"/>
          <p:cNvSpPr/>
          <p:nvPr/>
        </p:nvSpPr>
        <p:spPr>
          <a:xfrm>
            <a:off x="4066877" y="1658317"/>
            <a:ext cx="2006947" cy="442913"/>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Week 1 — Repo &amp; Structure</a:t>
            </a:r>
            <a:endParaRPr lang="en-US" sz="1350" dirty="0"/>
          </a:p>
        </p:txBody>
      </p:sp>
      <p:sp>
        <p:nvSpPr>
          <p:cNvPr id="6" name="Text 3"/>
          <p:cNvSpPr/>
          <p:nvPr/>
        </p:nvSpPr>
        <p:spPr>
          <a:xfrm>
            <a:off x="4066877" y="2186285"/>
            <a:ext cx="2006947"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Sourav: repository setup, folder layout, README, contribution guidelines.</a:t>
            </a:r>
            <a:endParaRPr lang="en-US" sz="1100" dirty="0"/>
          </a:p>
        </p:txBody>
      </p:sp>
      <p:sp>
        <p:nvSpPr>
          <p:cNvPr id="7" name="Shape 4"/>
          <p:cNvSpPr/>
          <p:nvPr/>
        </p:nvSpPr>
        <p:spPr>
          <a:xfrm>
            <a:off x="6357342" y="1516559"/>
            <a:ext cx="2290539" cy="1491928"/>
          </a:xfrm>
          <a:prstGeom prst="roundRect">
            <a:avLst>
              <a:gd name="adj" fmla="val 1425"/>
            </a:avLst>
          </a:prstGeom>
          <a:solidFill>
            <a:srgbClr val="F2EEEE"/>
          </a:solidFill>
          <a:ln/>
        </p:spPr>
      </p:sp>
      <p:sp>
        <p:nvSpPr>
          <p:cNvPr id="8" name="Text 5"/>
          <p:cNvSpPr/>
          <p:nvPr/>
        </p:nvSpPr>
        <p:spPr>
          <a:xfrm>
            <a:off x="6499101" y="1658317"/>
            <a:ext cx="2007022" cy="221456"/>
          </a:xfrm>
          <a:prstGeom prst="rect">
            <a:avLst/>
          </a:prstGeom>
          <a:noFill/>
          <a:ln/>
        </p:spPr>
        <p:txBody>
          <a:bodyPr wrap="none" lIns="0" tIns="0" rIns="0" bIns="0" rtlCol="0" anchor="t"/>
          <a:lstStyle/>
          <a:p>
            <a:pPr algn="l"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Week 2 — Core Game</a:t>
            </a:r>
            <a:endParaRPr lang="en-US" sz="1350" dirty="0"/>
          </a:p>
        </p:txBody>
      </p:sp>
      <p:sp>
        <p:nvSpPr>
          <p:cNvPr id="9" name="Text 6"/>
          <p:cNvSpPr/>
          <p:nvPr/>
        </p:nvSpPr>
        <p:spPr>
          <a:xfrm>
            <a:off x="6499101" y="1964829"/>
            <a:ext cx="2007022"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Sudipta: implemented board representation, CLI interface, win/draw detection and tests.</a:t>
            </a:r>
            <a:endParaRPr lang="en-US" sz="1100" dirty="0"/>
          </a:p>
        </p:txBody>
      </p:sp>
      <p:sp>
        <p:nvSpPr>
          <p:cNvPr id="10" name="Shape 7"/>
          <p:cNvSpPr/>
          <p:nvPr/>
        </p:nvSpPr>
        <p:spPr>
          <a:xfrm>
            <a:off x="3925119" y="3150245"/>
            <a:ext cx="4722763" cy="1043657"/>
          </a:xfrm>
          <a:prstGeom prst="roundRect">
            <a:avLst>
              <a:gd name="adj" fmla="val 2038"/>
            </a:avLst>
          </a:prstGeom>
          <a:solidFill>
            <a:srgbClr val="F2EEEE"/>
          </a:solidFill>
          <a:ln/>
        </p:spPr>
      </p:sp>
      <p:sp>
        <p:nvSpPr>
          <p:cNvPr id="11" name="Text 8"/>
          <p:cNvSpPr/>
          <p:nvPr/>
        </p:nvSpPr>
        <p:spPr>
          <a:xfrm>
            <a:off x="4066877" y="3292004"/>
            <a:ext cx="4439245" cy="221456"/>
          </a:xfrm>
          <a:prstGeom prst="rect">
            <a:avLst/>
          </a:prstGeom>
          <a:noFill/>
          <a:ln/>
        </p:spPr>
        <p:txBody>
          <a:bodyPr wrap="none" lIns="0" tIns="0" rIns="0" bIns="0" rtlCol="0" anchor="t"/>
          <a:lstStyle/>
          <a:p>
            <a:pPr algn="l"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Week 3 — Minimax</a:t>
            </a:r>
            <a:endParaRPr lang="en-US" sz="1350" dirty="0"/>
          </a:p>
        </p:txBody>
      </p:sp>
      <p:sp>
        <p:nvSpPr>
          <p:cNvPr id="12" name="Text 9"/>
          <p:cNvSpPr/>
          <p:nvPr/>
        </p:nvSpPr>
        <p:spPr>
          <a:xfrm>
            <a:off x="4066877" y="3598515"/>
            <a:ext cx="4439245"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Khatune: implemented Minimax algorithm, validated optimal play on full game tree.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558230"/>
            <a:ext cx="4722763" cy="354360"/>
          </a:xfrm>
          <a:prstGeom prst="rect">
            <a:avLst/>
          </a:prstGeom>
          <a:noFill/>
          <a:ln/>
        </p:spPr>
        <p:txBody>
          <a:bodyPr wrap="none" lIns="0" tIns="0" rIns="0" bIns="0" rtlCol="0" anchor="t"/>
          <a:lstStyle/>
          <a:p>
            <a:pPr algn="l" indent="0" marL="0">
              <a:lnSpc>
                <a:spcPct val="104000"/>
              </a:lnSpc>
              <a:buNone/>
            </a:pPr>
            <a:r>
              <a:rPr lang="en-US" sz="2200" dirty="0">
                <a:solidFill>
                  <a:srgbClr val="152D47"/>
                </a:solidFill>
                <a:latin typeface="Crimson Pro SemiBold" pitchFamily="34" charset="0"/>
                <a:ea typeface="Crimson Pro SemiBold" pitchFamily="34" charset="-122"/>
                <a:cs typeface="Crimson Pro SemiBold" pitchFamily="34" charset="-120"/>
              </a:rPr>
              <a:t>Progress: Weeks 4–5 &amp; Current Status</a:t>
            </a:r>
            <a:endParaRPr lang="en-US" sz="2200" dirty="0"/>
          </a:p>
        </p:txBody>
      </p:sp>
      <p:sp>
        <p:nvSpPr>
          <p:cNvPr id="4" name="Text 1"/>
          <p:cNvSpPr/>
          <p:nvPr/>
        </p:nvSpPr>
        <p:spPr>
          <a:xfrm>
            <a:off x="496119" y="2125191"/>
            <a:ext cx="4722763" cy="1460004"/>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4C4C4D"/>
                </a:solidFill>
                <a:latin typeface="Heebo" pitchFamily="34" charset="0"/>
                <a:ea typeface="Heebo" pitchFamily="34" charset="-122"/>
                <a:cs typeface="Heebo" pitchFamily="34" charset="-120"/>
              </a:rPr>
              <a:t>Week 4 — Alpha-Beta Pruning optimization (Tabassum): reduced node expansions while preserving optimal moves.</a:t>
            </a:r>
            <a:endParaRPr lang="en-US" sz="1100" dirty="0"/>
          </a:p>
          <a:p>
            <a:pPr algn="l" marL="223520" indent="-223520">
              <a:lnSpc>
                <a:spcPct val="133000"/>
              </a:lnSpc>
              <a:buSzPct val="100000"/>
              <a:buChar char="•"/>
            </a:pPr>
            <a:r>
              <a:rPr lang="en-US" sz="1100" dirty="0">
                <a:solidFill>
                  <a:srgbClr val="4C4C4D"/>
                </a:solidFill>
                <a:latin typeface="Heebo" pitchFamily="34" charset="0"/>
                <a:ea typeface="Heebo" pitchFamily="34" charset="-122"/>
                <a:cs typeface="Heebo" pitchFamily="34" charset="-120"/>
              </a:rPr>
              <a:t>Week 5 — Full integration &amp; playability (Sourav): main.py ties CLI, AI modules, and tests; playable Human vs AI.</a:t>
            </a:r>
            <a:endParaRPr lang="en-US" sz="1100" dirty="0"/>
          </a:p>
          <a:p>
            <a:pPr algn="l" marL="223520" indent="-223520">
              <a:lnSpc>
                <a:spcPct val="133000"/>
              </a:lnSpc>
              <a:buSzPct val="100000"/>
              <a:buChar char="•"/>
            </a:pPr>
            <a:r>
              <a:rPr lang="en-US" sz="1100" dirty="0">
                <a:solidFill>
                  <a:srgbClr val="4C4C4D"/>
                </a:solidFill>
                <a:latin typeface="Heebo" pitchFamily="34" charset="0"/>
                <a:ea typeface="Heebo" pitchFamily="34" charset="-122"/>
                <a:cs typeface="Heebo" pitchFamily="34" charset="-120"/>
              </a:rPr>
              <a:t>Status: Fully working — tested on GitHub Codespaces and ready for live demo.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698971"/>
            <a:ext cx="8151763" cy="354360"/>
          </a:xfrm>
          <a:prstGeom prst="rect">
            <a:avLst/>
          </a:prstGeom>
          <a:noFill/>
          <a:ln/>
        </p:spPr>
        <p:txBody>
          <a:bodyPr wrap="none" lIns="0" tIns="0" rIns="0" bIns="0" rtlCol="0" anchor="t"/>
          <a:lstStyle/>
          <a:p>
            <a:pPr algn="l" indent="0" marL="0">
              <a:lnSpc>
                <a:spcPct val="104000"/>
              </a:lnSpc>
              <a:buNone/>
            </a:pPr>
            <a:r>
              <a:rPr lang="en-US" sz="2200" dirty="0">
                <a:solidFill>
                  <a:srgbClr val="152D47"/>
                </a:solidFill>
                <a:latin typeface="Crimson Pro SemiBold" pitchFamily="34" charset="0"/>
                <a:ea typeface="Crimson Pro SemiBold" pitchFamily="34" charset="-122"/>
                <a:cs typeface="Crimson Pro SemiBold" pitchFamily="34" charset="-120"/>
              </a:rPr>
              <a:t>Roadmap — What's Next</a:t>
            </a:r>
            <a:endParaRPr lang="en-US" sz="2200" dirty="0"/>
          </a:p>
        </p:txBody>
      </p:sp>
      <p:sp>
        <p:nvSpPr>
          <p:cNvPr id="3" name="Shape 1"/>
          <p:cNvSpPr/>
          <p:nvPr/>
        </p:nvSpPr>
        <p:spPr>
          <a:xfrm>
            <a:off x="655588" y="1265932"/>
            <a:ext cx="19050" cy="3178522"/>
          </a:xfrm>
          <a:prstGeom prst="roundRect">
            <a:avLst>
              <a:gd name="adj" fmla="val 111628"/>
            </a:avLst>
          </a:prstGeom>
          <a:solidFill>
            <a:srgbClr val="D8D4D4"/>
          </a:solidFill>
          <a:ln/>
        </p:spPr>
      </p:sp>
      <p:sp>
        <p:nvSpPr>
          <p:cNvPr id="4" name="Shape 2"/>
          <p:cNvSpPr/>
          <p:nvPr/>
        </p:nvSpPr>
        <p:spPr>
          <a:xfrm>
            <a:off x="796007" y="1415876"/>
            <a:ext cx="425276" cy="19050"/>
          </a:xfrm>
          <a:prstGeom prst="roundRect">
            <a:avLst>
              <a:gd name="adj" fmla="val 111628"/>
            </a:avLst>
          </a:prstGeom>
          <a:solidFill>
            <a:srgbClr val="D8D4D4"/>
          </a:solidFill>
          <a:ln/>
        </p:spPr>
      </p:sp>
      <p:sp>
        <p:nvSpPr>
          <p:cNvPr id="5" name="Shape 3"/>
          <p:cNvSpPr/>
          <p:nvPr/>
        </p:nvSpPr>
        <p:spPr>
          <a:xfrm>
            <a:off x="496119" y="1265932"/>
            <a:ext cx="318939" cy="318939"/>
          </a:xfrm>
          <a:prstGeom prst="roundRect">
            <a:avLst>
              <a:gd name="adj" fmla="val 6667"/>
            </a:avLst>
          </a:prstGeom>
          <a:solidFill>
            <a:srgbClr val="F2EEEE"/>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9287" y="1319064"/>
            <a:ext cx="212601" cy="212601"/>
          </a:xfrm>
          <a:prstGeom prst="rect">
            <a:avLst/>
          </a:prstGeom>
        </p:spPr>
      </p:pic>
      <p:sp>
        <p:nvSpPr>
          <p:cNvPr id="7" name="Text 4"/>
          <p:cNvSpPr/>
          <p:nvPr/>
        </p:nvSpPr>
        <p:spPr>
          <a:xfrm>
            <a:off x="1364382" y="1314599"/>
            <a:ext cx="7283500" cy="221456"/>
          </a:xfrm>
          <a:prstGeom prst="rect">
            <a:avLst/>
          </a:prstGeom>
          <a:noFill/>
          <a:ln/>
        </p:spPr>
        <p:txBody>
          <a:bodyPr wrap="none" lIns="0" tIns="0" rIns="0" bIns="0" rtlCol="0" anchor="t"/>
          <a:lstStyle/>
          <a:p>
            <a:pPr algn="l"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Week 6</a:t>
            </a:r>
            <a:endParaRPr lang="en-US" sz="1350" dirty="0"/>
          </a:p>
        </p:txBody>
      </p:sp>
      <p:sp>
        <p:nvSpPr>
          <p:cNvPr id="8" name="Text 5"/>
          <p:cNvSpPr/>
          <p:nvPr/>
        </p:nvSpPr>
        <p:spPr>
          <a:xfrm>
            <a:off x="1364382" y="1621110"/>
            <a:ext cx="7283500" cy="226814"/>
          </a:xfrm>
          <a:prstGeom prst="rect">
            <a:avLst/>
          </a:prstGeom>
          <a:noFill/>
          <a:ln/>
        </p:spPr>
        <p:txBody>
          <a:bodyPr wrap="none" lIns="0" tIns="0" rIns="0" bIns="0" rtlCol="0" anchor="t"/>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Develop and test heuristic evaluation functions for faster approximate play.</a:t>
            </a:r>
            <a:endParaRPr lang="en-US" sz="1100" dirty="0"/>
          </a:p>
        </p:txBody>
      </p:sp>
      <p:sp>
        <p:nvSpPr>
          <p:cNvPr id="9" name="Shape 6"/>
          <p:cNvSpPr/>
          <p:nvPr/>
        </p:nvSpPr>
        <p:spPr>
          <a:xfrm>
            <a:off x="796007" y="2281386"/>
            <a:ext cx="425276" cy="19050"/>
          </a:xfrm>
          <a:prstGeom prst="roundRect">
            <a:avLst>
              <a:gd name="adj" fmla="val 111628"/>
            </a:avLst>
          </a:prstGeom>
          <a:solidFill>
            <a:srgbClr val="D8D4D4"/>
          </a:solidFill>
          <a:ln/>
        </p:spPr>
      </p:sp>
      <p:sp>
        <p:nvSpPr>
          <p:cNvPr id="10" name="Shape 7"/>
          <p:cNvSpPr/>
          <p:nvPr/>
        </p:nvSpPr>
        <p:spPr>
          <a:xfrm>
            <a:off x="496119" y="2131442"/>
            <a:ext cx="318939" cy="318939"/>
          </a:xfrm>
          <a:prstGeom prst="roundRect">
            <a:avLst>
              <a:gd name="adj" fmla="val 6667"/>
            </a:avLst>
          </a:prstGeom>
          <a:solidFill>
            <a:srgbClr val="F2EEEE"/>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9287" y="2184574"/>
            <a:ext cx="212601" cy="212601"/>
          </a:xfrm>
          <a:prstGeom prst="rect">
            <a:avLst/>
          </a:prstGeom>
        </p:spPr>
      </p:pic>
      <p:sp>
        <p:nvSpPr>
          <p:cNvPr id="12" name="Text 8"/>
          <p:cNvSpPr/>
          <p:nvPr/>
        </p:nvSpPr>
        <p:spPr>
          <a:xfrm>
            <a:off x="1364382" y="2180109"/>
            <a:ext cx="7283500" cy="221456"/>
          </a:xfrm>
          <a:prstGeom prst="rect">
            <a:avLst/>
          </a:prstGeom>
          <a:noFill/>
          <a:ln/>
        </p:spPr>
        <p:txBody>
          <a:bodyPr wrap="none" lIns="0" tIns="0" rIns="0" bIns="0" rtlCol="0" anchor="t"/>
          <a:lstStyle/>
          <a:p>
            <a:pPr algn="l"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Week 7</a:t>
            </a:r>
            <a:endParaRPr lang="en-US" sz="1350" dirty="0"/>
          </a:p>
        </p:txBody>
      </p:sp>
      <p:sp>
        <p:nvSpPr>
          <p:cNvPr id="13" name="Text 9"/>
          <p:cNvSpPr/>
          <p:nvPr/>
        </p:nvSpPr>
        <p:spPr>
          <a:xfrm>
            <a:off x="1364382" y="2486620"/>
            <a:ext cx="7283500" cy="226814"/>
          </a:xfrm>
          <a:prstGeom prst="rect">
            <a:avLst/>
          </a:prstGeom>
          <a:noFill/>
          <a:ln/>
        </p:spPr>
        <p:txBody>
          <a:bodyPr wrap="none" lIns="0" tIns="0" rIns="0" bIns="0" rtlCol="0" anchor="t"/>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Performance analysis: benchmark Minimax vs Alpha-Beta vs heuristic-guided search.</a:t>
            </a:r>
            <a:endParaRPr lang="en-US" sz="1100" dirty="0"/>
          </a:p>
        </p:txBody>
      </p:sp>
      <p:sp>
        <p:nvSpPr>
          <p:cNvPr id="14" name="Shape 10"/>
          <p:cNvSpPr/>
          <p:nvPr/>
        </p:nvSpPr>
        <p:spPr>
          <a:xfrm>
            <a:off x="796007" y="3146896"/>
            <a:ext cx="425276" cy="19050"/>
          </a:xfrm>
          <a:prstGeom prst="roundRect">
            <a:avLst>
              <a:gd name="adj" fmla="val 111628"/>
            </a:avLst>
          </a:prstGeom>
          <a:solidFill>
            <a:srgbClr val="D8D4D4"/>
          </a:solidFill>
          <a:ln/>
        </p:spPr>
      </p:sp>
      <p:sp>
        <p:nvSpPr>
          <p:cNvPr id="15" name="Shape 11"/>
          <p:cNvSpPr/>
          <p:nvPr/>
        </p:nvSpPr>
        <p:spPr>
          <a:xfrm>
            <a:off x="496119" y="2996952"/>
            <a:ext cx="318939" cy="318939"/>
          </a:xfrm>
          <a:prstGeom prst="roundRect">
            <a:avLst>
              <a:gd name="adj" fmla="val 6667"/>
            </a:avLst>
          </a:prstGeom>
          <a:solidFill>
            <a:srgbClr val="F2EEEE"/>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9287" y="3050084"/>
            <a:ext cx="212601" cy="212601"/>
          </a:xfrm>
          <a:prstGeom prst="rect">
            <a:avLst/>
          </a:prstGeom>
        </p:spPr>
      </p:pic>
      <p:sp>
        <p:nvSpPr>
          <p:cNvPr id="17" name="Text 12"/>
          <p:cNvSpPr/>
          <p:nvPr/>
        </p:nvSpPr>
        <p:spPr>
          <a:xfrm>
            <a:off x="1364382" y="3045619"/>
            <a:ext cx="7283500" cy="221456"/>
          </a:xfrm>
          <a:prstGeom prst="rect">
            <a:avLst/>
          </a:prstGeom>
          <a:noFill/>
          <a:ln/>
        </p:spPr>
        <p:txBody>
          <a:bodyPr wrap="none" lIns="0" tIns="0" rIns="0" bIns="0" rtlCol="0" anchor="t"/>
          <a:lstStyle/>
          <a:p>
            <a:pPr algn="l"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Week 8</a:t>
            </a:r>
            <a:endParaRPr lang="en-US" sz="1350" dirty="0"/>
          </a:p>
        </p:txBody>
      </p:sp>
      <p:sp>
        <p:nvSpPr>
          <p:cNvPr id="18" name="Text 13"/>
          <p:cNvSpPr/>
          <p:nvPr/>
        </p:nvSpPr>
        <p:spPr>
          <a:xfrm>
            <a:off x="1364382" y="3352130"/>
            <a:ext cx="7283500" cy="226814"/>
          </a:xfrm>
          <a:prstGeom prst="rect">
            <a:avLst/>
          </a:prstGeom>
          <a:noFill/>
          <a:ln/>
        </p:spPr>
        <p:txBody>
          <a:bodyPr wrap="none" lIns="0" tIns="0" rIns="0" bIns="0" rtlCol="0" anchor="t"/>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GUI implementation (Pygame or Tkinter) for user-friendly Human vs AI interaction.</a:t>
            </a:r>
            <a:endParaRPr lang="en-US" sz="1100" dirty="0"/>
          </a:p>
        </p:txBody>
      </p:sp>
      <p:sp>
        <p:nvSpPr>
          <p:cNvPr id="19" name="Shape 14"/>
          <p:cNvSpPr/>
          <p:nvPr/>
        </p:nvSpPr>
        <p:spPr>
          <a:xfrm>
            <a:off x="796007" y="4012406"/>
            <a:ext cx="425276" cy="19050"/>
          </a:xfrm>
          <a:prstGeom prst="roundRect">
            <a:avLst>
              <a:gd name="adj" fmla="val 111628"/>
            </a:avLst>
          </a:prstGeom>
          <a:solidFill>
            <a:srgbClr val="D8D4D4"/>
          </a:solidFill>
          <a:ln/>
        </p:spPr>
      </p:sp>
      <p:sp>
        <p:nvSpPr>
          <p:cNvPr id="20" name="Shape 15"/>
          <p:cNvSpPr/>
          <p:nvPr/>
        </p:nvSpPr>
        <p:spPr>
          <a:xfrm>
            <a:off x="496119" y="3862462"/>
            <a:ext cx="318939" cy="318939"/>
          </a:xfrm>
          <a:prstGeom prst="roundRect">
            <a:avLst>
              <a:gd name="adj" fmla="val 6667"/>
            </a:avLst>
          </a:prstGeom>
          <a:solidFill>
            <a:srgbClr val="F2EEEE"/>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9287" y="3915594"/>
            <a:ext cx="212601" cy="212601"/>
          </a:xfrm>
          <a:prstGeom prst="rect">
            <a:avLst/>
          </a:prstGeom>
        </p:spPr>
      </p:pic>
      <p:sp>
        <p:nvSpPr>
          <p:cNvPr id="22" name="Text 16"/>
          <p:cNvSpPr/>
          <p:nvPr/>
        </p:nvSpPr>
        <p:spPr>
          <a:xfrm>
            <a:off x="1364382" y="3911129"/>
            <a:ext cx="7283500" cy="221456"/>
          </a:xfrm>
          <a:prstGeom prst="rect">
            <a:avLst/>
          </a:prstGeom>
          <a:noFill/>
          <a:ln/>
        </p:spPr>
        <p:txBody>
          <a:bodyPr wrap="none" lIns="0" tIns="0" rIns="0" bIns="0" rtlCol="0" anchor="t"/>
          <a:lstStyle/>
          <a:p>
            <a:pPr algn="l"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Week 9</a:t>
            </a:r>
            <a:endParaRPr lang="en-US" sz="1350" dirty="0"/>
          </a:p>
        </p:txBody>
      </p:sp>
      <p:sp>
        <p:nvSpPr>
          <p:cNvPr id="23" name="Text 17"/>
          <p:cNvSpPr/>
          <p:nvPr/>
        </p:nvSpPr>
        <p:spPr>
          <a:xfrm>
            <a:off x="1364382" y="4217640"/>
            <a:ext cx="7283500" cy="226814"/>
          </a:xfrm>
          <a:prstGeom prst="rect">
            <a:avLst/>
          </a:prstGeom>
          <a:noFill/>
          <a:ln/>
        </p:spPr>
        <p:txBody>
          <a:bodyPr wrap="none" lIns="0" tIns="0" rIns="0" bIns="0" rtlCol="0" anchor="t"/>
          <a:lstStyle/>
          <a:p>
            <a:pPr algn="l" indent="0" marL="0">
              <a:lnSpc>
                <a:spcPct val="133000"/>
              </a:lnSpc>
              <a:buNone/>
            </a:pPr>
            <a:r>
              <a:rPr lang="en-US" sz="1100" dirty="0">
                <a:solidFill>
                  <a:srgbClr val="4C4C4D"/>
                </a:solidFill>
                <a:latin typeface="Heebo" pitchFamily="34" charset="0"/>
                <a:ea typeface="Heebo" pitchFamily="34" charset="-122"/>
                <a:cs typeface="Heebo" pitchFamily="34" charset="-120"/>
              </a:rPr>
              <a:t>Finalize report, prepare final presentation and demo video.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981721"/>
            <a:ext cx="8151763" cy="354360"/>
          </a:xfrm>
          <a:prstGeom prst="rect">
            <a:avLst/>
          </a:prstGeom>
          <a:noFill/>
          <a:ln/>
        </p:spPr>
        <p:txBody>
          <a:bodyPr wrap="none" lIns="0" tIns="0" rIns="0" bIns="0" rtlCol="0" anchor="t"/>
          <a:lstStyle/>
          <a:p>
            <a:pPr algn="ctr" indent="0" marL="0">
              <a:lnSpc>
                <a:spcPct val="104000"/>
              </a:lnSpc>
              <a:buNone/>
            </a:pPr>
            <a:r>
              <a:rPr lang="en-US" sz="2200" dirty="0">
                <a:solidFill>
                  <a:srgbClr val="152D47"/>
                </a:solidFill>
                <a:latin typeface="Crimson Pro SemiBold" pitchFamily="34" charset="0"/>
                <a:ea typeface="Crimson Pro SemiBold" pitchFamily="34" charset="-122"/>
                <a:cs typeface="Crimson Pro SemiBold" pitchFamily="34" charset="-120"/>
              </a:rPr>
              <a:t>Thank You — Questions?</a:t>
            </a:r>
            <a:endParaRPr lang="en-US" sz="2200" dirty="0"/>
          </a:p>
        </p:txBody>
      </p:sp>
      <p:sp>
        <p:nvSpPr>
          <p:cNvPr id="3" name="Text 1"/>
          <p:cNvSpPr/>
          <p:nvPr/>
        </p:nvSpPr>
        <p:spPr>
          <a:xfrm>
            <a:off x="496119" y="2548682"/>
            <a:ext cx="8151763" cy="613097"/>
          </a:xfrm>
          <a:prstGeom prst="rect">
            <a:avLst/>
          </a:prstGeom>
          <a:noFill/>
          <a:ln/>
        </p:spPr>
        <p:txBody>
          <a:bodyPr wrap="square" lIns="0" tIns="0" rIns="0" bIns="0" rtlCol="0" anchor="t"/>
          <a:lstStyle/>
          <a:p>
            <a:pPr algn="ctr" indent="0" marL="0">
              <a:lnSpc>
                <a:spcPct val="133000"/>
              </a:lnSpc>
              <a:buNone/>
            </a:pPr>
            <a:r>
              <a:rPr lang="en-US" sz="1100" dirty="0">
                <a:solidFill>
                  <a:srgbClr val="4C4C4D"/>
                </a:solidFill>
                <a:latin typeface="Heebo" pitchFamily="34" charset="0"/>
                <a:ea typeface="Heebo" pitchFamily="34" charset="-122"/>
                <a:cs typeface="Heebo" pitchFamily="34" charset="-120"/>
              </a:rPr>
              <a:t>Repository: </a:t>
            </a:r>
            <a:pPr algn="ctr" indent="0" marL="0">
              <a:lnSpc>
                <a:spcPct val="133000"/>
              </a:lnSpc>
              <a:spcAft>
                <a:spcPts val="1250"/>
              </a:spcAft>
              <a:buNone/>
            </a:pPr>
            <a:r>
              <a:rPr lang="en-US" sz="1100" b="1" u="sng" dirty="0">
                <a:solidFill>
                  <a:srgbClr val="2150FE"/>
                </a:solidFill>
                <a:latin typeface="Heebo Bold" pitchFamily="34" charset="0"/>
                <a:ea typeface="Heebo Bold" pitchFamily="34" charset="-122"/>
                <a:cs typeface="Heebo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github.com/souravnewbee/cse440-tictactoe-ai-group01</a:t>
            </a:r>
            <a:endParaRPr lang="en-US" sz="1100" dirty="0"/>
          </a:p>
          <a:p>
            <a:pPr algn="ctr" indent="0" marL="0">
              <a:lnSpc>
                <a:spcPct val="133000"/>
              </a:lnSpc>
              <a:buNone/>
            </a:pPr>
            <a:r>
              <a:rPr lang="en-US" sz="1100" dirty="0">
                <a:solidFill>
                  <a:srgbClr val="2150FE"/>
                </a:solidFill>
                <a:latin typeface="Heebo" pitchFamily="34" charset="0"/>
                <a:ea typeface="Heebo" pitchFamily="34" charset="-122"/>
                <a:cs typeface="Heebo" pitchFamily="34" charset="-120"/>
              </a:rPr>
              <a:t>Prepared by Group 01 — CSE 440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2150FE"/>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2026-07-15T05:05:33Z</dcterms:created>
  <dcterms:modified xsi:type="dcterms:W3CDTF">2026-07-15T05:05:33Z</dcterms:modified>
</cp:coreProperties>
</file>